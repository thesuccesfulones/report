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8d0353fd24e95" /><Relationship Type="http://schemas.openxmlformats.org/officeDocument/2006/relationships/extended-properties" Target="/docProps/app.xml" Id="R3aed4239392f4114" /><Relationship Type="http://schemas.openxmlformats.org/officeDocument/2006/relationships/officeDocument" Target="/ppt/presentation.xml" Id="R24c7c2a1c25748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58d12a2244897"/>
  </p:sldMasterIdLst>
  <p:notesMasterIdLst>
    <p:notesMasterId xmlns:r="http://schemas.openxmlformats.org/officeDocument/2006/relationships" r:id="R12017928e0de4cce"/>
  </p:notesMasterIdLst>
  <p:sldIdLst>
    <p:sldId xmlns:r="http://schemas.openxmlformats.org/officeDocument/2006/relationships" id="256" r:id="Rcc185c3208e24408"/>
    <p:sldId xmlns:r="http://schemas.openxmlformats.org/officeDocument/2006/relationships" id="257" r:id="R781d913ba9414a8b"/>
    <p:sldId xmlns:r="http://schemas.openxmlformats.org/officeDocument/2006/relationships" id="258" r:id="R39f695ba03334711"/>
    <p:sldId xmlns:r="http://schemas.openxmlformats.org/officeDocument/2006/relationships" id="259" r:id="R1d24d352c45640d7"/>
    <p:sldId xmlns:r="http://schemas.openxmlformats.org/officeDocument/2006/relationships" id="260" r:id="R6e95afe247d34610"/>
    <p:sldId xmlns:r="http://schemas.openxmlformats.org/officeDocument/2006/relationships" id="261" r:id="R7870dc6cdce446f6"/>
    <p:sldId xmlns:r="http://schemas.openxmlformats.org/officeDocument/2006/relationships" id="262" r:id="Ref9837b35dd24b18"/>
    <p:sldId xmlns:r="http://schemas.openxmlformats.org/officeDocument/2006/relationships" id="263" r:id="R8cddb9d2d20f4d8b"/>
    <p:sldId xmlns:r="http://schemas.openxmlformats.org/officeDocument/2006/relationships" id="264" r:id="Rdbccbe66021841a2"/>
    <p:sldId xmlns:r="http://schemas.openxmlformats.org/officeDocument/2006/relationships" id="265" r:id="R5e0109b521004606"/>
    <p:sldId xmlns:r="http://schemas.openxmlformats.org/officeDocument/2006/relationships" id="266" r:id="R8d6de023303740fa"/>
    <p:sldId xmlns:r="http://schemas.openxmlformats.org/officeDocument/2006/relationships" id="267" r:id="R8d38dfa66cb943bc"/>
    <p:sldId xmlns:r="http://schemas.openxmlformats.org/officeDocument/2006/relationships" id="268" r:id="R5e7eac1db2564f63"/>
    <p:sldId xmlns:r="http://schemas.openxmlformats.org/officeDocument/2006/relationships" id="269" r:id="Rd5dad5af582e49b2"/>
    <p:sldId xmlns:r="http://schemas.openxmlformats.org/officeDocument/2006/relationships" id="270" r:id="R2b501bc9bb574b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60a2383f004435" /><Relationship Type="http://schemas.openxmlformats.org/officeDocument/2006/relationships/slideMaster" Target="/ppt/slideMasters/slideMaster1.xml" Id="Rbaf58d12a2244897" /><Relationship Type="http://schemas.openxmlformats.org/officeDocument/2006/relationships/notesMaster" Target="/ppt/notesMasters/notesMaster1.xml" Id="R12017928e0de4cce" /><Relationship Type="http://schemas.openxmlformats.org/officeDocument/2006/relationships/presProps" Target="/ppt/presProps.xml" Id="Rcd06bc700663429f" /><Relationship Type="http://schemas.openxmlformats.org/officeDocument/2006/relationships/tableStyles" Target="/ppt/tableStyles.xml" Id="Rc5901b586623449d" /><Relationship Type="http://schemas.openxmlformats.org/officeDocument/2006/relationships/slide" Target="/ppt/slides/slide1.xml" Id="Rcc185c3208e24408" /><Relationship Type="http://schemas.openxmlformats.org/officeDocument/2006/relationships/slide" Target="/ppt/slides/slide2.xml" Id="R781d913ba9414a8b" /><Relationship Type="http://schemas.openxmlformats.org/officeDocument/2006/relationships/slide" Target="/ppt/slides/slide3.xml" Id="R39f695ba03334711" /><Relationship Type="http://schemas.openxmlformats.org/officeDocument/2006/relationships/slide" Target="/ppt/slides/slide4.xml" Id="R1d24d352c45640d7" /><Relationship Type="http://schemas.openxmlformats.org/officeDocument/2006/relationships/slide" Target="/ppt/slides/slide5.xml" Id="R6e95afe247d34610" /><Relationship Type="http://schemas.openxmlformats.org/officeDocument/2006/relationships/slide" Target="/ppt/slides/slide6.xml" Id="R7870dc6cdce446f6" /><Relationship Type="http://schemas.openxmlformats.org/officeDocument/2006/relationships/slide" Target="/ppt/slides/slide7.xml" Id="Ref9837b35dd24b18" /><Relationship Type="http://schemas.openxmlformats.org/officeDocument/2006/relationships/slide" Target="/ppt/slides/slide8.xml" Id="R8cddb9d2d20f4d8b" /><Relationship Type="http://schemas.openxmlformats.org/officeDocument/2006/relationships/slide" Target="/ppt/slides/slide9.xml" Id="Rdbccbe66021841a2" /><Relationship Type="http://schemas.openxmlformats.org/officeDocument/2006/relationships/slide" Target="/ppt/slides/slide10.xml" Id="R5e0109b521004606" /><Relationship Type="http://schemas.openxmlformats.org/officeDocument/2006/relationships/slide" Target="/ppt/slides/slide11.xml" Id="R8d6de023303740fa" /><Relationship Type="http://schemas.openxmlformats.org/officeDocument/2006/relationships/slide" Target="/ppt/slides/slide12.xml" Id="R8d38dfa66cb943bc" /><Relationship Type="http://schemas.openxmlformats.org/officeDocument/2006/relationships/slide" Target="/ppt/slides/slide13.xml" Id="R5e7eac1db2564f63" /><Relationship Type="http://schemas.openxmlformats.org/officeDocument/2006/relationships/slide" Target="/ppt/slides/slide14.xml" Id="Rd5dad5af582e49b2" /><Relationship Type="http://schemas.openxmlformats.org/officeDocument/2006/relationships/slide" Target="/ppt/slides/slide15.xml" Id="R2b501bc9bb57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83ae7ed128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3068147664fe0" /><Relationship Type="http://schemas.openxmlformats.org/officeDocument/2006/relationships/notesMaster" Target="/ppt/notesMasters/notesMaster1.xml" Id="R5b961f77f32242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0f05b550a4a8e" /><Relationship Type="http://schemas.openxmlformats.org/officeDocument/2006/relationships/notesMaster" Target="/ppt/notesMasters/notesMaster1.xml" Id="R754632c462ba4d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d5c27d3b7473c" /><Relationship Type="http://schemas.openxmlformats.org/officeDocument/2006/relationships/notesMaster" Target="/ppt/notesMasters/notesMaster1.xml" Id="R5af4d167f35848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cd1cae6c4c45cc" /><Relationship Type="http://schemas.openxmlformats.org/officeDocument/2006/relationships/notesMaster" Target="/ppt/notesMasters/notesMaster1.xml" Id="R59829376e8cc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ffef94de154eac" /><Relationship Type="http://schemas.openxmlformats.org/officeDocument/2006/relationships/notesMaster" Target="/ppt/notesMasters/notesMaster1.xml" Id="R608af5642bb645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a5caf508a64b9c" /><Relationship Type="http://schemas.openxmlformats.org/officeDocument/2006/relationships/notesMaster" Target="/ppt/notesMasters/notesMaster1.xml" Id="R61bb00195b104a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8da02306e4f19" /><Relationship Type="http://schemas.openxmlformats.org/officeDocument/2006/relationships/notesMaster" Target="/ppt/notesMasters/notesMaster1.xml" Id="Re013b28e3d18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b10989a4b74a1a" /><Relationship Type="http://schemas.openxmlformats.org/officeDocument/2006/relationships/notesMaster" Target="/ppt/notesMasters/notesMaster1.xml" Id="R6d9aae621c1d4f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09c9e458af4d90" /><Relationship Type="http://schemas.openxmlformats.org/officeDocument/2006/relationships/notesMaster" Target="/ppt/notesMasters/notesMaster1.xml" Id="R32c2944080ed40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017309f9414fb6" /><Relationship Type="http://schemas.openxmlformats.org/officeDocument/2006/relationships/notesMaster" Target="/ppt/notesMasters/notesMaster1.xml" Id="Ra0c7dc42341147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12021f10b0412c" /><Relationship Type="http://schemas.openxmlformats.org/officeDocument/2006/relationships/notesMaster" Target="/ppt/notesMasters/notesMaster1.xml" Id="R3c539ec502a34d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c41655eda145c1" /><Relationship Type="http://schemas.openxmlformats.org/officeDocument/2006/relationships/notesMaster" Target="/ppt/notesMasters/notesMaster1.xml" Id="Rf590f2818b8d45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8bf71ea5bb450e" /><Relationship Type="http://schemas.openxmlformats.org/officeDocument/2006/relationships/notesMaster" Target="/ppt/notesMasters/notesMaster1.xml" Id="Rbaa0257038774b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e77d4c9464cdf" /><Relationship Type="http://schemas.openxmlformats.org/officeDocument/2006/relationships/notesMaster" Target="/ppt/notesMasters/notesMaster1.xml" Id="R5496430254894e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4468c0df6f417b" /><Relationship Type="http://schemas.openxmlformats.org/officeDocument/2006/relationships/notesMaster" Target="/ppt/notesMasters/notesMaster1.xml" Id="R22c804483268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73a707f104d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bc936d6dfb4381" /><Relationship Type="http://schemas.openxmlformats.org/officeDocument/2006/relationships/slideLayout" Target="/ppt/slideLayouts/slideLayout1.xml" Id="R014eb1d381fd4d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4eb1d381fd4d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d6845615f46bf" /><Relationship Type="http://schemas.openxmlformats.org/officeDocument/2006/relationships/image" Target="/ppt/media/image.jpeg" Id="R496341f57d2b4428" /><Relationship Type="http://schemas.openxmlformats.org/officeDocument/2006/relationships/image" Target="/ppt/media/image2.jpeg" Id="R37dbd113f4ed4560" /><Relationship Type="http://schemas.openxmlformats.org/officeDocument/2006/relationships/image" Target="/ppt/media/image3.jpeg" Id="Rb1cf28fb74114c52" /><Relationship Type="http://schemas.openxmlformats.org/officeDocument/2006/relationships/image" Target="/ppt/media/image.png" Id="Rcf11fb79afbd465e" /><Relationship Type="http://schemas.openxmlformats.org/officeDocument/2006/relationships/image" Target="/ppt/media/image4.jpeg" Id="Rcf15bff0b0fd4822" /><Relationship Type="http://schemas.openxmlformats.org/officeDocument/2006/relationships/image" Target="/ppt/media/image5.jpeg" Id="Re979e9e39e324e60" /><Relationship Type="http://schemas.openxmlformats.org/officeDocument/2006/relationships/image" Target="/ppt/media/image2.png" Id="Rdfeb133f5cf9498e" /><Relationship Type="http://schemas.openxmlformats.org/officeDocument/2006/relationships/notesSlide" Target="/ppt/notesSlides/notesSlide1.xml" Id="R5120e221dc85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1673660c24c78" /><Relationship Type="http://schemas.openxmlformats.org/officeDocument/2006/relationships/image" Target="/ppt/media/image3.png" Id="Rdb996da4e8be42e6" /><Relationship Type="http://schemas.openxmlformats.org/officeDocument/2006/relationships/image" Target="/ppt/media/image6.jpeg" Id="R5a725c3289144648" /><Relationship Type="http://schemas.openxmlformats.org/officeDocument/2006/relationships/notesSlide" Target="/ppt/notesSlides/notesSlide2.xml" Id="Rfa8efa1a7ea8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2b7364fc141b3" /><Relationship Type="http://schemas.openxmlformats.org/officeDocument/2006/relationships/image" Target="/ppt/media/image4.png" Id="R706bab978d9b43bf" /><Relationship Type="http://schemas.openxmlformats.org/officeDocument/2006/relationships/image" Target="/ppt/media/image5.png" Id="Rcd74f1f139eb487a" /><Relationship Type="http://schemas.openxmlformats.org/officeDocument/2006/relationships/notesSlide" Target="/ppt/notesSlides/notesSlide3.xml" Id="R32e6b6ad287746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68642f92e48f4" /><Relationship Type="http://schemas.openxmlformats.org/officeDocument/2006/relationships/image" Target="/ppt/media/image7.jpeg" Id="Rb70e5b5fb5414d8d" /><Relationship Type="http://schemas.openxmlformats.org/officeDocument/2006/relationships/image" Target="/ppt/media/image8.jpeg" Id="Rba9de08209384403" /><Relationship Type="http://schemas.openxmlformats.org/officeDocument/2006/relationships/image" Target="/ppt/media/image9.jpeg" Id="Re91f5f3f8fd0452f" /><Relationship Type="http://schemas.openxmlformats.org/officeDocument/2006/relationships/notesSlide" Target="/ppt/notesSlides/notesSlide4.xml" Id="R9229320cea6641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fb99ddf7142bf" /><Relationship Type="http://schemas.openxmlformats.org/officeDocument/2006/relationships/image" Target="/ppt/media/image10.jpeg" Id="Rbb89756431f84a8d" /><Relationship Type="http://schemas.openxmlformats.org/officeDocument/2006/relationships/image" Target="/ppt/media/image11.jpeg" Id="Rd8e3bba4149b49be" /><Relationship Type="http://schemas.openxmlformats.org/officeDocument/2006/relationships/image" Target="/ppt/media/image12.jpeg" Id="R1a4d37acc3284751" /><Relationship Type="http://schemas.openxmlformats.org/officeDocument/2006/relationships/notesSlide" Target="/ppt/notesSlides/notesSlide5.xml" Id="R5901d079461e44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e2c40c7c49ba" /><Relationship Type="http://schemas.openxmlformats.org/officeDocument/2006/relationships/image" Target="/ppt/media/image6.png" Id="R8fb5a570f31e49c2" /><Relationship Type="http://schemas.openxmlformats.org/officeDocument/2006/relationships/image" Target="/ppt/media/image7.png" Id="R50840ddfae884276" /><Relationship Type="http://schemas.openxmlformats.org/officeDocument/2006/relationships/notesSlide" Target="/ppt/notesSlides/notesSlide6.xml" Id="Rf02700c38d42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9c64bc5c34dbf" /><Relationship Type="http://schemas.openxmlformats.org/officeDocument/2006/relationships/image" Target="/ppt/media/image8.png" Id="R7fb1066022fb44d7" /><Relationship Type="http://schemas.openxmlformats.org/officeDocument/2006/relationships/image" Target="/ppt/media/image13.jpeg" Id="Rccc0b73498e244e3" /><Relationship Type="http://schemas.openxmlformats.org/officeDocument/2006/relationships/image" Target="/ppt/media/image14.jpeg" Id="Rd363853558ce4adf" /><Relationship Type="http://schemas.openxmlformats.org/officeDocument/2006/relationships/notesSlide" Target="/ppt/notesSlides/notesSlide7.xml" Id="R5d92f47f9d384a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e09c42fcb4aa2" /><Relationship Type="http://schemas.openxmlformats.org/officeDocument/2006/relationships/image" Target="/ppt/media/image9.png" Id="R699f6934a01e4f98" /><Relationship Type="http://schemas.openxmlformats.org/officeDocument/2006/relationships/notesSlide" Target="/ppt/notesSlides/notesSlide8.xml" Id="R33f64347a2b144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b4a98e5f445de" /><Relationship Type="http://schemas.openxmlformats.org/officeDocument/2006/relationships/image" Target="/ppt/media/image15.jpeg" Id="R00fed3207b6e4b7a" /><Relationship Type="http://schemas.openxmlformats.org/officeDocument/2006/relationships/notesSlide" Target="/ppt/notesSlides/notesSlide9.xml" Id="R976c4b34017a48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c7d6faa2452c" /><Relationship Type="http://schemas.openxmlformats.org/officeDocument/2006/relationships/image" Target="/ppt/media/image10.png" Id="R9e03c83553084135" /><Relationship Type="http://schemas.openxmlformats.org/officeDocument/2006/relationships/image" Target="/ppt/media/image16.jpeg" Id="Rc46f6b732c2f45f1" /><Relationship Type="http://schemas.openxmlformats.org/officeDocument/2006/relationships/notesSlide" Target="/ppt/notesSlides/notesSlide10.xml" Id="Rada5b26b5f7a47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1c420cc084077" /><Relationship Type="http://schemas.openxmlformats.org/officeDocument/2006/relationships/image" Target="/ppt/media/image17.jpeg" Id="R5fd39f1627df4257" /><Relationship Type="http://schemas.openxmlformats.org/officeDocument/2006/relationships/notesSlide" Target="/ppt/notesSlides/notesSlide11.xml" Id="R8a0d3cfa0e284a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09f3647fe4f83" /><Relationship Type="http://schemas.openxmlformats.org/officeDocument/2006/relationships/notesSlide" Target="/ppt/notesSlides/notesSlide12.xml" Id="R375bee4a887348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09c867f4c41fb" /><Relationship Type="http://schemas.openxmlformats.org/officeDocument/2006/relationships/notesSlide" Target="/ppt/notesSlides/notesSlide13.xml" Id="Ra5025c67de6b4e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61fd2a27c49a6" /><Relationship Type="http://schemas.openxmlformats.org/officeDocument/2006/relationships/notesSlide" Target="/ppt/notesSlides/notesSlide14.xml" Id="R27687bf40ab142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550546fb34f3e" /><Relationship Type="http://schemas.openxmlformats.org/officeDocument/2006/relationships/notesSlide" Target="/ppt/notesSlides/notesSlide15.xml" Id="R7e4492f813454b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6C42B-233C-4506-A273-4676ADC7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6B3C7-51A2-4D96-88B5-9B66B9D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AVANCE 1 · 2026-20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9BAFE-2D13-40CE-AF61-45631FF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SafeSpace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9DFBE-D320-4B57-9F94-ECC20669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F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91E90-596A-4C0F-83EA-BC812B68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Bienestar laboral y comunicación segura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FB63A-2066-491A-895A-04B82D94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Diseño de Experimentos de Ingeniería de Software</a:t>
            </a:r>
          </a:p>
          <a:p xmlns:a="http://schemas.openxmlformats.org/drawingml/2006/main">
            <a:pPr algn="l">
              <a:defRPr sz="120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Ingeniería de Software · UPC · NRC 9097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844C8-15A7-4931-8378-F9DE1C13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The Successful Ones Corp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341f57d2b4428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0" y="685800"/>
            <a:ext cx="2000250" cy="43434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D0E34-793F-4404-9933-30B64228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57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3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experiencia para empleados y RR. HH.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bd113f4ed4560"/>
          <a:srcRect xmlns:a="http://schemas.openxmlformats.org/drawingml/2006/main" l="0" t="11212" r="0" b="11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953000"/>
            <a:ext cx="533400" cy="53340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C7AF8-88CC-4673-8652-73823A3D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5307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Mauricio</a:t>
            </a:r>
          </a:p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Pajés León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f28fb74114c52"/>
          <a:srcRect xmlns:a="http://schemas.openxmlformats.org/drawingml/2006/main" l="0" t="12508" r="0" b="12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2600" y="4953000"/>
            <a:ext cx="533400" cy="533400"/>
          </a:xfrm>
          <a:prstGeom xmlns:a="http://schemas.openxmlformats.org/drawingml/2006/main" prst="ellipse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B085B-DE9E-4C2A-8AEF-53420FF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5307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Milenko</a:t>
            </a:r>
          </a:p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Cayanchi Avila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1fb79afbd465e"/>
          <a:srcRect xmlns:a="http://schemas.openxmlformats.org/drawingml/2006/main" l="0" t="8648" r="0" b="8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4953000"/>
            <a:ext cx="533400" cy="533400"/>
          </a:xfrm>
          <a:prstGeom xmlns:a="http://schemas.openxmlformats.org/drawingml/2006/main" prst="ellipse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73019-FCD3-4380-B248-399A379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5307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Diego</a:t>
            </a:r>
          </a:p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Ávalos Cordova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5bff0b0fd4822"/>
          <a:srcRect xmlns:a="http://schemas.openxmlformats.org/drawingml/2006/main" l="0" t="8333" r="0" b="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6700" y="4953000"/>
            <a:ext cx="533400" cy="53340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86B07-063E-4A78-A87C-26BAA0A2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55307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Jose</a:t>
            </a:r>
          </a:p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Asto Jacome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9e9e39e324e60"/>
          <a:srcRect xmlns:a="http://schemas.openxmlformats.org/drawingml/2006/main" l="0" t="3471" r="0" b="3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0" y="4953000"/>
            <a:ext cx="533400" cy="533400"/>
          </a:xfrm>
          <a:prstGeom xmlns:a="http://schemas.openxmlformats.org/drawingml/2006/main" prst="ellipse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397BF-FBDB-4214-BEA0-83B49B6A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5307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Alexther</a:t>
            </a:r>
          </a:p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Diaz Martinez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b133f5cf949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953000"/>
            <a:ext cx="533400" cy="533400"/>
          </a:xfrm>
          <a:prstGeom xmlns:a="http://schemas.openxmlformats.org/drawingml/2006/main" prst="ellipse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418B-BB02-4786-A69C-723E4A53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307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Jean Niels</a:t>
            </a:r>
          </a:p>
          <a:p xmlns:a="http://schemas.openxmlformats.org/drawingml/2006/main">
            <a:pPr algn="ctr">
              <a:defRPr sz="6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Arizabal Condori</a:t>
            </a:r>
          </a:p>
        </p:txBody>
      </p:sp>
    </p:spTree>
    <p:extLst>
      <p:ext uri="{BB962C8B-B14F-4D97-AF65-F5344CB8AC3E}">
        <p14:creationId xmlns:p14="http://schemas.microsoft.com/office/powerpoint/2010/main" val="635154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79DE3-48A2-4708-AE8F-75B70C92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01 ·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D013C-A7BC-4A9C-AD4E-E5FB0B29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Un problema de confianza y seguimiento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2A231-E572-45B4-969D-C949383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873D7-14EC-43B5-BD52-AB630A4B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839E2-66E3-4B5B-9923-93FBCDC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Los empleados necesitan un canal seguro para comunicar situaciones sensibles. RR. HH. necesita información ordenada para responder a tiempo.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0AA81-628F-4409-BB6E-FA20E3C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333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E342D-AFA1-4A7A-AF1D-6611D990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E3EF7-F812-40A7-A5EA-0ED4D7C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45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La información se dispersa y comunicar un problema puede generar desconfianza.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7274E-CB25-4536-AB14-231E357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24100"/>
            <a:ext cx="3333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1647B-C731-4CFD-AAF5-162F1BA7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ED0AF-BD74-406C-818C-55039796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45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SafeSpace centraliza bienestar, encuestas, reportes y orientación con privacidad.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96da4e8be42e6"/>
          <a:stretch xmlns:a="http://schemas.openxmlformats.org/drawingml/2006/main"/>
        </p:blipFill>
        <p:spPr>
          <a:xfrm xmlns:a="http://schemas.openxmlformats.org/drawingml/2006/main">
            <a:off x="7810500" y="1809466"/>
            <a:ext cx="3638550" cy="1734117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25c3289144648"/>
          <a:srcRect xmlns:a="http://schemas.openxmlformats.org/drawingml/2006/main" l="0" t="9891" r="0" b="9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4095750"/>
            <a:ext cx="1314450" cy="228600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D5F85-4956-4DE3-89B9-A97D6D3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172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Empleados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4BD68-867A-4D90-B7C3-8E5B3B4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RR. HH.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84094-E23D-4527-8B17-B6E95B94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B46BC-9A42-43C7-BAC3-2237281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7173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1B191-A5B9-42B8-8E31-8ECCFD0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02 · INVESTIGACIÓN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8A01C-298F-4AA1-8174-0912AFEB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Dos usuarios, una necesidad de 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C02C6-E8CF-4734-8A01-05CF4991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1780A-8E47-41C4-BEDB-AE991174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96782-5948-499F-B58B-7B6C5CBF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Las entrevistas y el análisis de necesidades orientan la solución hacia dos experiencias complementarias.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bab978d9b43bf"/>
          <a:srcRect xmlns:a="http://schemas.openxmlformats.org/drawingml/2006/main" l="0" t="24976" r="0" b="2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1524000" cy="1524000"/>
          </a:xfrm>
          <a:prstGeom xmlns:a="http://schemas.openxmlformats.org/drawingml/2006/main" prst="ellipse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94175-3D92-4488-B293-7FACC3B8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Andrés · empleado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F9D80-F774-422D-9898-04613B85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479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Necesita privacidad, una forma sencilla de reportar situaciones y seguimiento sin exponerse.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E1074-B31F-4065-98EF-973BF11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7F70"/>
                </a:solidFill>
                <a:latin typeface="Arial"/>
                <a:ea typeface="Arial"/>
                <a:cs typeface="Arial"/>
              </a:rPr>
              <a:t>Privacidad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98DAA-5E8C-4867-8510-CB225EC6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4f1f139eb487a"/>
          <a:srcRect xmlns:a="http://schemas.openxmlformats.org/drawingml/2006/main" l="0" t="26646" r="0" b="26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190750"/>
            <a:ext cx="1524000" cy="1524000"/>
          </a:xfrm>
          <a:prstGeom xmlns:a="http://schemas.openxmlformats.org/drawingml/2006/main" prst="ellipse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7C911-EBA7-417B-B2B6-C89F62A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Beatriz · RR. HH.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E9F12-7598-4E94-AC07-A69A80E4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Necesita una vista clara del clima laboral, encuestas accionables y gestión de casos.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CEBCD-9B25-492B-834B-012E95BC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Resumen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F7A7E-9442-4200-AEE7-5B39816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Acción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EE0E3-407E-4B9A-AD09-81458FAD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8585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1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558A7-055B-4641-852F-C3C41F1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Hipótesis Lean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C0A92-9A2C-496E-804A-1523FA26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913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canal confidencial con seguimiento facilita que los empleados comuniquen sus inquietudes y que RR. HH. actúe con evidencia.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E56CF-F7EA-47AD-A787-946955F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D75FE-427B-4B6D-A713-D1548D2D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2746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3BB83-CBB2-4DF0-8DBB-3454865E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03 ·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8A9A3-EEE4-47E5-90A3-FAEAB1A7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Un flujo que acompaña al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96B59-C611-4513-9FA9-185C1C5C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B5FA9-21AD-45CC-963A-7F250EC4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3E31E-F3EA-401A-B5E8-0E451245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SafeSpace conecta el registro diario, la participación y la orientación en una sola experiencia.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903E4-027A-4C24-A4CB-9FF8BD8D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05ECD-0F3C-4359-A551-002B985D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A7186-8D84-4ABB-9801-8E54EBD4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El empleado expresa cómo se siente hoy.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e5b5fb5414d8d"/>
          <a:srcRect xmlns:a="http://schemas.openxmlformats.org/drawingml/2006/main" l="0" t="26015" r="0" b="26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3295650"/>
            <a:ext cx="2381250" cy="24765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E8CDC-3FFA-4E87-8669-48ABAED6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C9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2E1A7-D546-4996-9312-A48872EB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4E7EE-EBAB-4C11-AFD2-BBB2F784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Participar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CE455-28F5-426D-B593-5A94E13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Responde encuestas y vota en actividades.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de08209384403"/>
          <a:srcRect xmlns:a="http://schemas.openxmlformats.org/drawingml/2006/main" l="0" t="26015" r="0" b="26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3295650"/>
            <a:ext cx="2381250" cy="24765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816C0-2F57-4602-BA34-3763B997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C9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7923D-8E9E-458E-8E21-9A075D4B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C5C4C-FD12-4D0E-B4B5-DD03DB6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Orientarse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54236-1D66-4549-A622-4F924FCF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Recibe apoyo conversacional privado.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f5f3f8fd0452f"/>
          <a:srcRect xmlns:a="http://schemas.openxmlformats.org/drawingml/2006/main" l="0" t="26015" r="0" b="26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3295650"/>
            <a:ext cx="2381250" cy="24765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593FF-E8F3-48BB-BC1E-DF110DAA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834D9-632C-4348-93F4-57F6D60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4485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6023F-22E5-4A7B-8B2A-014CD33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04 · PRODUCTO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C5EC4-6427-45B1-A84C-0311458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La experiencia del empleado ya está en marcha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77E0E-B2D7-4A56-96FF-EB3997E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939AC-4E0C-4265-911E-759F431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7E203-5C4F-4CE3-B916-C27027B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La aplicación Android reúne bienestar diario, encuestas, comentarios, actividades, perfil y Chat AI.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9756431f84a8d"/>
          <a:srcRect xmlns:a="http://schemas.openxmlformats.org/drawingml/2006/main" l="0" t="185" r="0" b="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1905000" cy="4114800"/>
          </a:xfrm>
          <a:prstGeom xmlns:a="http://schemas.openxmlformats.org/drawingml/2006/main" prst="roundRect">
            <a:avLst>
              <a:gd name="adj" fmla="val 11000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3bba4149b49be"/>
          <a:srcRect xmlns:a="http://schemas.openxmlformats.org/drawingml/2006/main" l="0" t="185" r="0" b="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0" y="2190750"/>
            <a:ext cx="1905000" cy="4114800"/>
          </a:xfrm>
          <a:prstGeom xmlns:a="http://schemas.openxmlformats.org/drawingml/2006/main" prst="roundRect">
            <a:avLst>
              <a:gd name="adj" fmla="val 1100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d37acc3284751"/>
          <a:srcRect xmlns:a="http://schemas.openxmlformats.org/drawingml/2006/main" l="0" t="185" r="0" b="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2190750"/>
            <a:ext cx="1905000" cy="4114800"/>
          </a:xfrm>
          <a:prstGeom xmlns:a="http://schemas.openxmlformats.org/drawingml/2006/main" prst="roundRect">
            <a:avLst>
              <a:gd name="adj" fmla="val 11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7BDAF-8149-42FA-BB3D-3FC65C79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3505200" cy="37147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B4B53-4202-420E-9A2E-2417FE55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Flujos visibles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58B4A-D15F-45D2-808F-9E0A2E8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• Registro de ánimo</a:t>
            </a:r>
          </a:p>
          <a:p xmlns:a="http://schemas.openxmlformats.org/drawingml/2006/main">
            <a:pPr algn="l">
              <a:defRPr sz="12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• Encuestas y respuesta registrada</a:t>
            </a:r>
          </a:p>
          <a:p xmlns:a="http://schemas.openxmlformats.org/drawingml/2006/main">
            <a:pPr algn="l">
              <a:defRPr sz="12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• Comentarios, likes y respuestas</a:t>
            </a:r>
          </a:p>
          <a:p xmlns:a="http://schemas.openxmlformats.org/drawingml/2006/main">
            <a:pPr algn="l">
              <a:defRPr sz="12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• Actividad semanal y cambio de voto</a:t>
            </a:r>
          </a:p>
          <a:p xmlns:a="http://schemas.openxmlformats.org/drawingml/2006/main">
            <a:pPr algn="l">
              <a:defRPr sz="12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• Perfil, idioma y tema oscuro</a:t>
            </a:r>
          </a:p>
          <a:p xmlns:a="http://schemas.openxmlformats.org/drawingml/2006/main">
            <a:pPr algn="l">
              <a:defRPr sz="12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• Conversación privada con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3E025-482B-4C6A-B11E-D0B2873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054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Kotlin · Jetpack Compose · SDK 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DE61B-7B72-49C7-8DF0-CF993A1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03E81-5F3B-4035-91F9-4231A60C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7989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C4765-4544-4729-B217-5FA6C004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05 · FRONTEND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620D9-0295-4535-8BCA-50C32A0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Participación y seguimiento desde la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20B35-1DC0-4EA0-A32D-5A6A387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6778C-6B99-4010-8CD8-E05E290E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A8FE5-7EE5-4507-89D5-3E24FF73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El frontend web permite que los empleados respondan, reporten y consulten su actividad en un espacio único.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5a570f31e49c2"/>
          <a:stretch xmlns:a="http://schemas.openxmlformats.org/drawingml/2006/main"/>
        </p:blipFill>
        <p:spPr>
          <a:xfrm xmlns:a="http://schemas.openxmlformats.org/drawingml/2006/main">
            <a:off x="533400" y="2347520"/>
            <a:ext cx="5334000" cy="2620159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40ddfae884276"/>
          <a:stretch xmlns:a="http://schemas.openxmlformats.org/drawingml/2006/main"/>
        </p:blipFill>
        <p:spPr>
          <a:xfrm xmlns:a="http://schemas.openxmlformats.org/drawingml/2006/main">
            <a:off x="6476452" y="2152650"/>
            <a:ext cx="5030295" cy="300990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CAF49-73BE-4125-A25D-7B6959B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Estado de ánimo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C7464-11DC-4C63-BF47-CADE0DD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48300"/>
            <a:ext cx="1600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7F70"/>
                </a:solidFill>
                <a:latin typeface="Arial"/>
                <a:ea typeface="Arial"/>
                <a:cs typeface="Arial"/>
              </a:rPr>
              <a:t>Reporte confidencial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1A13E-2774-43C3-A53E-0427E44B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React · Vite · TypeScript · Vercel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E469D-717D-46A3-A391-0EDD998C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La vista de reportes permite conservar el carácter anónimo cuando el usuario lo elige.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5EE2B-EDC8-43F7-A0D7-B1799643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24C7-0AB1-4555-92F0-A22ED6E7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3914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9396F-0EBC-47FB-A34B-5BA224B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06 · GESTIÓN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D87A9-E897-48FA-B9E3-327ACED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RR. HH. y administración trabajan con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92B23-FB4E-4C34-816D-E0238BF8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A1783-1028-4950-B35B-737E30B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F265B-644E-4807-8432-E598535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Las vistas de gestión concentran encuestas, actividades, reportes, cuentas y planes en función del rol.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1066022fb44d7"/>
          <a:stretch xmlns:a="http://schemas.openxmlformats.org/drawingml/2006/main"/>
        </p:blipFill>
        <p:spPr>
          <a:xfrm xmlns:a="http://schemas.openxmlformats.org/drawingml/2006/main">
            <a:off x="533400" y="2607446"/>
            <a:ext cx="3543300" cy="1643108"/>
          </a:xfrm>
          <a:prstGeom xmlns:a="http://schemas.openxmlformats.org/drawingml/2006/main" prst="roundRect">
            <a:avLst>
              <a:gd name="adj" fmla="val 5224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0b73498e244e3"/>
          <a:stretch xmlns:a="http://schemas.openxmlformats.org/drawingml/2006/main"/>
        </p:blipFill>
        <p:spPr>
          <a:xfrm xmlns:a="http://schemas.openxmlformats.org/drawingml/2006/main">
            <a:off x="4324350" y="2553141"/>
            <a:ext cx="3543300" cy="1751719"/>
          </a:xfrm>
          <a:prstGeom xmlns:a="http://schemas.openxmlformats.org/drawingml/2006/main" prst="roundRect">
            <a:avLst>
              <a:gd name="adj" fmla="val 5224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3853558ce4adf"/>
          <a:stretch xmlns:a="http://schemas.openxmlformats.org/drawingml/2006/main"/>
        </p:blipFill>
        <p:spPr>
          <a:xfrm xmlns:a="http://schemas.openxmlformats.org/drawingml/2006/main">
            <a:off x="8115300" y="2563106"/>
            <a:ext cx="3543300" cy="1731788"/>
          </a:xfrm>
          <a:prstGeom xmlns:a="http://schemas.openxmlformats.org/drawingml/2006/main" prst="roundRect">
            <a:avLst>
              <a:gd name="adj" fmla="val 52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D7695-D3E0-4156-9B07-2150F56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Encuestas y comentarios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4D359-2D22-47C7-9D66-771B299F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Resumen de cuentas y actividad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1F0E5-76DC-4945-AA55-D8EC17B6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Seguimiento de situaciones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EE9C1-EAFF-480F-8BF1-2F658886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Spring Boot · roles EMPLOYEE, HR_MEMBER y SYSTEM_ADMIN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1F47B-0019-4CCF-B8C0-D96DF8E1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93C7C-9F1C-49E0-9ADD-D18AECA1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3963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3BE47-2B5D-4529-9559-EBFD5DCA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07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A9F1F-D486-48FC-8A79-E3BD814F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Una API compartida con persistencia en Firestore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E1769-58E3-4EB3-8FFA-39583D49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86190-46B3-4C26-80E1-5DB21971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8DD1C-52FF-4D1F-8DE3-A2281023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84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Web y Android consumen una API REST en Spring Boot. La API centraliza reglas, permisos y conexión con Firestore.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301A4-CE8C-472D-98DA-988E3C5A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7F70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BE9F4-9336-4226-A0D4-5E259571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270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Spring Boot 3.5.5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3693B-DD5B-4C4D-A26A-D57EAB4E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5270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Firestore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B40C0-18C9-4F93-B36A-B3ADF78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La arquitectura mantiene separados los contextos de autenticación, perfil, mood, encuestas, comentarios, actividades, reportes, IA, pagos y administración.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40E2A-E032-4DE3-84E1-C2D3BF0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Persistencia 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9FD21-3DE1-44AD-A5DA-BC35FAF0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Firebase Firestore</a:t>
            </a:r>
          </a:p>
          <a:p xmlns:a="http://schemas.openxmlformats.org/drawingml/2006/main">
            <a:pPr algn="l">
              <a:defRPr sz="127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API REST + Bearer JWT</a:t>
            </a:r>
          </a:p>
          <a:p xmlns:a="http://schemas.openxmlformats.org/drawingml/2006/main">
            <a:pPr algn="l">
              <a:defRPr sz="127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Gemini opcional para Chat AI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f6934a01e4f98"/>
          <a:stretch xmlns:a="http://schemas.openxmlformats.org/drawingml/2006/main"/>
        </p:blipFill>
        <p:spPr>
          <a:xfrm xmlns:a="http://schemas.openxmlformats.org/drawingml/2006/main">
            <a:off x="5924550" y="1743075"/>
            <a:ext cx="5734050" cy="4095750"/>
          </a:xfrm>
          <a:prstGeom xmlns:a="http://schemas.openxmlformats.org/drawingml/2006/main" prst="roundRect">
            <a:avLst>
              <a:gd name="adj" fmla="val 315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0466B-2D1B-437C-8DD2-4EA309C2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62E54-EBD8-4152-938E-CAD4B108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137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EB730-500F-40F7-86D9-13827AE2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08 ·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A1ED-8400-43C8-8FED-472D43A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Un producto distribuido por capas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C221A-0BE2-4BB8-9CF9-28526E52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23E9A-F7B0-4C51-8FD0-A8A2BFAD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685EA-95F7-4A11-8AD7-9063A48A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40665-7852-46F7-85F2-93AD61E1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Landing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69969-F917-449D-8A9E-90DDCE8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38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97D91-0F40-40F4-9FD4-AB25658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Presenta la propuesta y el valor de SafeSpace.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6DFDA-90AC-40A5-ADDC-2919715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69201-4B89-4D33-B6CE-8EE4DD32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Frontend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361FB-3C2A-4F49-98B6-F995FE6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622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A3A6B-A902-4561-8DD9-E44D17D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Participación, reportes y preferencias.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1295C-2ACD-4A24-A81A-0EEB160B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0BDD2-24A6-43A2-96ED-DDD4BE49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4E24D-0FA6-473D-9FBA-F0637A25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86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0F05F-13E3-44D2-9536-EC0AE3F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Cuentas, encuestas, actividades y pagos.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BD98E-8F05-4AE6-98FD-A15E16B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86714-825B-4465-A157-75251332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CD1BA-ADEB-4645-B4BF-32B6F08C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100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APK/AAB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80AB9-370D-4604-9868-D97A182C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2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Experiencia móvil del empleado.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4F9B7-E0F7-40DF-BBEE-EBC95044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F6370-4BE9-47EE-933A-FD16345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E40D6-DD02-4408-A17E-D651DCE1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339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1E2FB-4334-4F7F-8511-FFBF8B56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Reglas de negocio y API REST.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ed3207b6e4b7a"/>
          <a:stretch xmlns:a="http://schemas.openxmlformats.org/drawingml/2006/main"/>
        </p:blipFill>
        <p:spPr>
          <a:xfrm xmlns:a="http://schemas.openxmlformats.org/drawingml/2006/main">
            <a:off x="6096000" y="2015430"/>
            <a:ext cx="5238750" cy="256043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174CB2-2C6C-4C64-8398-6E2B56F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La distribución móvil se documenta con el APK/AAB compartido y el repositorio Android.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92CFA-BC8D-4E73-AF06-F92B7E0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C6C48-C485-4A12-9E34-77B56172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6200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18E8E-6790-431F-AE50-6388EF3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09 ·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5CA8-9BB6-4EE5-9865-91FEE404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El avance se puede revisar en artefactos reales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B3B76-A659-4561-8324-E0100F8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D18C9-34E1-47F3-BA63-A9E9886B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96171-0438-4791-BC5A-C210FBCC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La evidencia combina interfaces ejecutables, repositorios, despliegues y colaboración del equipo.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3c83553084135"/>
          <a:stretch xmlns:a="http://schemas.openxmlformats.org/drawingml/2006/main"/>
        </p:blipFill>
        <p:spPr>
          <a:xfrm xmlns:a="http://schemas.openxmlformats.org/drawingml/2006/main">
            <a:off x="533400" y="2307637"/>
            <a:ext cx="5334000" cy="2699926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f6b732c2f45f1"/>
          <a:stretch xmlns:a="http://schemas.openxmlformats.org/drawingml/2006/main"/>
        </p:blipFill>
        <p:spPr>
          <a:xfrm xmlns:a="http://schemas.openxmlformats.org/drawingml/2006/main">
            <a:off x="6324600" y="2337435"/>
            <a:ext cx="5334000" cy="264033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BC9F-228F-4CD9-9DB6-2689D5CA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752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Colaboración en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652BB-BFF0-4EE9-85AC-7E35ECA9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158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832"/>
                </a:solidFill>
                <a:latin typeface="Arial"/>
                <a:ea typeface="Arial"/>
                <a:cs typeface="Arial"/>
              </a:rPr>
              <a:t>Persistencia verificada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D161C-A5FA-4889-9693-BCECBBB6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La documentación mantiene la trazabilidad entre historias, versiones y evidencias visuales.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32871-7279-43C4-8D42-ACE2BFB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32FF2-3027-4789-975B-A7ED45D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7459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81088-2FF4-4607-9A40-AACD8D6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CIERRE DEL AVANCE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3B801-2620-4F95-8535-C9F35A6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SafeSpace convierte una necesidad sensible en una experiencia concreta.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82FCD-90EE-4F81-B400-FB09420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0372-7B32-4B2D-A5EC-38888E80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CE9E3"/>
                </a:solidFill>
                <a:latin typeface="Arial"/>
                <a:ea typeface="Arial"/>
                <a:cs typeface="Arial"/>
              </a:rPr>
              <a:t>El producto integra bienestar diario, participación, reportes y acompañamiento con una arquitectura web, móvil y backend coherente.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3898F-47F7-49A1-8788-C09A496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53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2146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0BE8D-C3FA-4488-975C-C32FE4ED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Siguiente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B1BB7-FD47-4B05-9438-D707C37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15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Consolidar el video About the Product y continuar la validación con usuarios.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39f1627df4257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990600"/>
            <a:ext cx="2000250" cy="43434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E93B0-8F28-4C01-8C0A-FD4FA58E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6DEAF-BAAB-4F12-8364-AA392B6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9C2B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9C2B8"/>
                </a:solidFill>
                <a:latin typeface="Arial"/>
                <a:ea typeface="Arial"/>
                <a:cs typeface="Arial"/>
              </a:rPr>
              <a:t>Avance 1 · 2026-20</a:t>
            </a:r>
          </a:p>
        </p:txBody>
      </p:sp>
    </p:spTree>
    <p:extLst>
      <p:ext uri="{BB962C8B-B14F-4D97-AF65-F5344CB8AC3E}">
        <p14:creationId xmlns:p14="http://schemas.microsoft.com/office/powerpoint/2010/main" val="2112965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7F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1B6D6-F6CE-4427-9BCD-C5AB6AD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· PRODUCT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EE8E1-85DB-496A-9C01-BFEC100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 historias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épicas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EBA7C-8AE3-402D-9127-EBC38A8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backlog queda al final para cerrar la presentación con el alcance funcional del producto.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08876-0175-4545-ABC8-93A329F1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62050"/>
            <a:ext cx="34290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714F8-F0CA-480A-B889-6EEA9FB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1809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US01</a:t>
            </a:r>
          </a:p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US02</a:t>
            </a:r>
          </a:p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US04</a:t>
            </a:r>
          </a:p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…</a:t>
            </a:r>
          </a:p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58E44-E84E-4A9B-BA53-7B07AB1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SafeSpace · Avance 1</a:t>
            </a:r>
          </a:p>
        </p:txBody>
      </p:sp>
    </p:spTree>
    <p:extLst>
      <p:ext uri="{BB962C8B-B14F-4D97-AF65-F5344CB8AC3E}">
        <p14:creationId xmlns:p14="http://schemas.microsoft.com/office/powerpoint/2010/main" val="1423947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A3D31-37FF-45C9-846E-CD91736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10 · PRODUCT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6C499-3553-4ECD-83D6-EC546B3D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Épicas y cobertura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2B20F-C1E1-4A9E-BFE4-3F9D75CA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DFCB9-285E-49B7-9166-7BDB9B8D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C8D4A-B727-429A-BC2B-8EFB1CD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8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832"/>
                </a:solidFill>
                <a:latin typeface="Arial"/>
                <a:ea typeface="Arial"/>
                <a:cs typeface="Arial"/>
              </a:rPr>
              <a:t>El backlog organiza la solución desde el acceso hasta el acompañamiento con IA.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2152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5810250"/>
                <a:gridCol w="2838450"/>
              </a:tblGrid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Épica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Objetivo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Historias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EP01 · Acceso e identidad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Registro, autenticación, perfil y administración de usuarios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US01, US02, US04, US05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EP02 · Bienestar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Registro diario y resumen administrativo del estado de ánimo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US06, US07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 · Encuestas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Encuestas, respuestas, comentarios y reacciones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US08–US13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EP04 · Actividades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Votaciones semanales y gestión de actividades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US14–US16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EP05 · Reportes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Reportes identificados o anónimos y seguimiento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US17–US19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EP06 · Pagos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Planes y comprobantes de pago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US20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46434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EP07 · 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Conversaciones privadas y mensajes de orientación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US21, US22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19883-9CBD-44C4-9EA1-D3B7733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Product Backlog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E61FB-AE9C-4495-9DFA-B2D8619C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3395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5AE77-387A-4C43-A4E2-11028C38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10 · PRODUCT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F41C8-F7D1-48A8-9CEE-DBCE794F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Historias de usuario · EP01–EP03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7362E-A934-443B-8D85-BA88734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E19DA-685D-47AD-8C2E-38C6F2FC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504950"/>
          <a:ext xmlns:a="http://schemas.openxmlformats.org/drawingml/2006/main" cx="11125200" cy="4762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7810500"/>
                <a:gridCol w="2266950"/>
              </a:tblGrid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Historia de usuario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Épica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Registro de empleados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US02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Inicio de sesión con credenciales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EP01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Actualización de perfil y preferencias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US05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Administración de usuarios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EP01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Registro diario de estado de ánimo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US07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Resumen administrativo de estado de ánimo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EP02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Consulta de encuestas publicadas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US09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Respuesta única a una encuesta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Gestión operativa de encuestas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US11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Administración avanzada de encuestas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Comentarios anidados en encuestas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34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US13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Like de comentarios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EP03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07514-33BE-401A-ABA1-0DBC2569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Product Backlog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6569D-769E-4683-94F1-3583201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68120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B88AD-76DD-4C39-A69E-B2EB036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7F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7F70"/>
                </a:solidFill>
                <a:latin typeface="Arial"/>
                <a:ea typeface="Arial"/>
                <a:cs typeface="Arial"/>
              </a:rPr>
              <a:t>10 · PRODUCT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4F219-97AD-49A1-9F6F-945396D0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2A"/>
                </a:solidFill>
                <a:latin typeface="Arial"/>
                <a:ea typeface="Arial"/>
                <a:cs typeface="Arial"/>
              </a:rPr>
              <a:t>Historias de usuario · EP04–EP07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E2267-7BB3-45FC-BF34-95A43E9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F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53646-711D-4231-90A7-F75DDF5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7810500"/>
                <a:gridCol w="2266950"/>
              </a:tblGrid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Historia de usuario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Épica</a:t>
                      </a:r>
                    </a:p>
                  </a:txBody>
                  <a:tcPr marL="91440" marR="91440" marT="45720" marB="45720">
                    <a:solidFill>
                      <a:srgbClr val="173832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Consulta de actividades abiertas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US15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Votación y cambio de voto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EP04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Gestión de actividades semanales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US17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Creación de reportes anónimos o identificados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EP05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Consulta de reportes propios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US19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Revisión y actualización de reportes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EP05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Registro de planes y comprobantes de pago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US21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Conversaciones con la IA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EP07</a:t>
                      </a:r>
                    </a:p>
                  </a:txBody>
                  <a:tcPr marL="91440" marR="91440" marT="45720" marB="45720">
                    <a:solidFill>
                      <a:srgbClr val="E6F0E6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US22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Envío de mensajes al asistente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02A2A"/>
                          </a:solidFill>
                          <a:latin typeface="Arial"/>
                          <a:ea typeface="Arial"/>
                          <a:cs typeface="Arial"/>
                        </a:rPr>
                        <a:t>EP07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F3641-5D29-40D8-BA69-00235FC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Las historias técnicas se gestionan fuera de este resumen funcional y se mantienen en el Capítulo III.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EEA48-E360-4D31-9235-0C3AD1B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6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671"/>
                </a:solidFill>
                <a:latin typeface="Arial"/>
                <a:ea typeface="Arial"/>
                <a:cs typeface="Arial"/>
              </a:rPr>
              <a:t>SafeSpace · Product Backlog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BCE23-EB8A-4A76-903A-B0E2F251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8620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2026-09-18T04:25:54.5850000Z</dcterms:created>
  <dcterms:modified xsi:type="dcterms:W3CDTF">2026-09-18T04:25:54.5860000Z</dcterms:modified>
</coreProperties>
</file>